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70" r:id="rId2"/>
    <p:sldId id="256" r:id="rId3"/>
    <p:sldId id="257" r:id="rId4"/>
    <p:sldId id="258" r:id="rId5"/>
    <p:sldId id="259" r:id="rId6"/>
    <p:sldId id="267" r:id="rId7"/>
    <p:sldId id="268" r:id="rId8"/>
    <p:sldId id="263" r:id="rId9"/>
  </p:sldIdLst>
  <p:sldSz cx="14630400" cy="8229600"/>
  <p:notesSz cx="8229600" cy="14630400"/>
  <p:embeddedFontLst>
    <p:embeddedFont>
      <p:font typeface="Algerian" panose="04020705040A02060702" pitchFamily="82" charset="0"/>
      <p:regular r:id="rId11"/>
    </p:embeddedFont>
    <p:embeddedFont>
      <p:font typeface="Aptos Narrow" panose="020B0004020202020204" pitchFamily="34" charset="0"/>
      <p:regular r:id="rId12"/>
      <p:bold r:id="rId13"/>
      <p:italic r:id="rId14"/>
      <p:boldItalic r:id="rId15"/>
    </p:embeddedFont>
    <p:embeddedFont>
      <p:font typeface="Arial Black" panose="020B0A04020102020204" pitchFamily="34" charset="0"/>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A0EA71-CFCD-4408-8FE9-DB918D8DD8D4}" v="2" dt="2025-04-25T17:51:43.011"/>
  </p1510:revLst>
</p1510:revInfo>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94" autoAdjust="0"/>
    <p:restoredTop sz="94610"/>
  </p:normalViewPr>
  <p:slideViewPr>
    <p:cSldViewPr snapToGrid="0" snapToObjects="1">
      <p:cViewPr>
        <p:scale>
          <a:sx n="66" d="100"/>
          <a:sy n="66" d="100"/>
        </p:scale>
        <p:origin x="715"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DB803DF2-7C26-294E-A79C-904C4163FDE9}" type="datetimeFigureOut">
              <a:rPr lang="en-US" smtClean="0"/>
              <a:t>4/26/2025</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E05122AF-3C03-C04E-8807-BBAA3ABD5907}" type="slidenum">
              <a:rPr lang="en-US" smtClean="0"/>
              <a:t>‹#›</a:t>
            </a:fld>
            <a:endParaRPr lang="en-US"/>
          </a:p>
        </p:txBody>
      </p:sp>
    </p:spTree>
    <p:extLst>
      <p:ext uri="{BB962C8B-B14F-4D97-AF65-F5344CB8AC3E}">
        <p14:creationId xmlns:p14="http://schemas.microsoft.com/office/powerpoint/2010/main" val="247912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sp>
      <p:sp>
        <p:nvSpPr>
          <p:cNvPr id="3" name="Shape 1"/>
          <p:cNvSpPr/>
          <p:nvPr/>
        </p:nvSpPr>
        <p:spPr>
          <a:xfrm>
            <a:off x="0" y="0"/>
            <a:ext cx="14630400" cy="8229600"/>
          </a:xfrm>
          <a:prstGeom prst="rect">
            <a:avLst/>
          </a:prstGeom>
          <a:solidFill>
            <a:srgbClr val="0C0A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27E91A-33A3-F5F2-B16E-157B8BF88EA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577979" y="-170168"/>
            <a:ext cx="5920807" cy="8229600"/>
          </a:xfrm>
          <a:prstGeom prst="rect">
            <a:avLst/>
          </a:prstGeom>
        </p:spPr>
      </p:pic>
      <p:sp>
        <p:nvSpPr>
          <p:cNvPr id="4" name="TextBox 3">
            <a:extLst>
              <a:ext uri="{FF2B5EF4-FFF2-40B4-BE49-F238E27FC236}">
                <a16:creationId xmlns:a16="http://schemas.microsoft.com/office/drawing/2014/main" id="{BBF83538-C68C-66D1-B508-6F3F355DF883}"/>
              </a:ext>
            </a:extLst>
          </p:cNvPr>
          <p:cNvSpPr txBox="1"/>
          <p:nvPr/>
        </p:nvSpPr>
        <p:spPr>
          <a:xfrm>
            <a:off x="4716476" y="2441909"/>
            <a:ext cx="9801922" cy="745140"/>
          </a:xfrm>
          <a:prstGeom prst="rect">
            <a:avLst/>
          </a:prstGeom>
          <a:noFill/>
        </p:spPr>
        <p:txBody>
          <a:bodyPr wrap="square">
            <a:spAutoFit/>
          </a:bodyPr>
          <a:lstStyle/>
          <a:p>
            <a:pPr marL="0" indent="0" algn="l">
              <a:lnSpc>
                <a:spcPts val="5500"/>
              </a:lnSpc>
              <a:buNone/>
            </a:pPr>
            <a:r>
              <a:rPr lang="en-IN" sz="4000" dirty="0">
                <a:solidFill>
                  <a:schemeClr val="bg1"/>
                </a:solidFill>
                <a:latin typeface="Algerian" panose="04020705040A02060702" pitchFamily="82" charset="0"/>
              </a:rPr>
              <a:t>HEART DISEASE PREDICTION detector</a:t>
            </a:r>
          </a:p>
        </p:txBody>
      </p:sp>
      <p:sp>
        <p:nvSpPr>
          <p:cNvPr id="6" name="TextBox 5">
            <a:extLst>
              <a:ext uri="{FF2B5EF4-FFF2-40B4-BE49-F238E27FC236}">
                <a16:creationId xmlns:a16="http://schemas.microsoft.com/office/drawing/2014/main" id="{6D2218CE-4E93-0D23-96FF-106931A568E8}"/>
              </a:ext>
            </a:extLst>
          </p:cNvPr>
          <p:cNvSpPr txBox="1"/>
          <p:nvPr/>
        </p:nvSpPr>
        <p:spPr>
          <a:xfrm>
            <a:off x="5834386" y="3133754"/>
            <a:ext cx="7566102" cy="441788"/>
          </a:xfrm>
          <a:prstGeom prst="rect">
            <a:avLst/>
          </a:prstGeom>
          <a:noFill/>
        </p:spPr>
        <p:txBody>
          <a:bodyPr wrap="square">
            <a:spAutoFit/>
          </a:bodyPr>
          <a:lstStyle/>
          <a:p>
            <a:pPr>
              <a:lnSpc>
                <a:spcPts val="3000"/>
              </a:lnSpc>
            </a:pPr>
            <a:r>
              <a:rPr lang="en-US" sz="1800" dirty="0">
                <a:solidFill>
                  <a:schemeClr val="bg1"/>
                </a:solidFill>
                <a:latin typeface="+mj-lt"/>
                <a:ea typeface="Arimo" pitchFamily="34" charset="-122"/>
                <a:cs typeface="Arimo" pitchFamily="34" charset="-120"/>
              </a:rPr>
              <a:t>Using</a:t>
            </a:r>
            <a:r>
              <a:rPr lang="en-US" sz="1800" dirty="0">
                <a:solidFill>
                  <a:srgbClr val="D9E1FF"/>
                </a:solidFill>
                <a:latin typeface="+mj-lt"/>
                <a:ea typeface="Arimo" pitchFamily="34" charset="-122"/>
                <a:cs typeface="Arimo" pitchFamily="34" charset="-120"/>
              </a:rPr>
              <a:t> </a:t>
            </a:r>
            <a:r>
              <a:rPr lang="en-US" sz="1800" dirty="0">
                <a:solidFill>
                  <a:schemeClr val="bg1"/>
                </a:solidFill>
                <a:latin typeface="+mj-lt"/>
              </a:rPr>
              <a:t>Machine Learning with SMOTE &amp; </a:t>
            </a:r>
            <a:r>
              <a:rPr lang="en-US" sz="1800" dirty="0" err="1">
                <a:solidFill>
                  <a:schemeClr val="bg1"/>
                </a:solidFill>
                <a:latin typeface="+mj-lt"/>
              </a:rPr>
              <a:t>Gradio</a:t>
            </a:r>
            <a:r>
              <a:rPr lang="en-US" sz="1800" dirty="0">
                <a:solidFill>
                  <a:schemeClr val="bg1"/>
                </a:solidFill>
                <a:latin typeface="+mj-lt"/>
              </a:rPr>
              <a:t> in Google </a:t>
            </a:r>
            <a:r>
              <a:rPr lang="en-US" sz="1800" dirty="0" err="1">
                <a:solidFill>
                  <a:schemeClr val="bg1"/>
                </a:solidFill>
                <a:latin typeface="+mj-lt"/>
              </a:rPr>
              <a:t>Colab</a:t>
            </a:r>
            <a:endParaRPr lang="en-US" sz="1800" dirty="0">
              <a:solidFill>
                <a:schemeClr val="bg1"/>
              </a:solidFill>
              <a:latin typeface="+mj-lt"/>
            </a:endParaRPr>
          </a:p>
        </p:txBody>
      </p:sp>
      <p:sp>
        <p:nvSpPr>
          <p:cNvPr id="8" name="TextBox 7">
            <a:extLst>
              <a:ext uri="{FF2B5EF4-FFF2-40B4-BE49-F238E27FC236}">
                <a16:creationId xmlns:a16="http://schemas.microsoft.com/office/drawing/2014/main" id="{3C91DE2F-41B0-CD67-5AA5-5F0A399F09F8}"/>
              </a:ext>
            </a:extLst>
          </p:cNvPr>
          <p:cNvSpPr txBox="1"/>
          <p:nvPr/>
        </p:nvSpPr>
        <p:spPr>
          <a:xfrm>
            <a:off x="5707334" y="3964035"/>
            <a:ext cx="7566102" cy="1616083"/>
          </a:xfrm>
          <a:prstGeom prst="rect">
            <a:avLst/>
          </a:prstGeom>
          <a:noFill/>
        </p:spPr>
        <p:txBody>
          <a:bodyPr wrap="square">
            <a:spAutoFit/>
          </a:bodyPr>
          <a:lstStyle/>
          <a:p>
            <a:pPr marL="0" indent="0" algn="l">
              <a:lnSpc>
                <a:spcPts val="3000"/>
              </a:lnSpc>
              <a:buNone/>
            </a:pPr>
            <a:r>
              <a:rPr lang="en-US" sz="2400" b="1" dirty="0">
                <a:solidFill>
                  <a:schemeClr val="bg1">
                    <a:lumMod val="95000"/>
                  </a:schemeClr>
                </a:solidFill>
                <a:latin typeface="Arial Black" panose="020B0A04020102020204" pitchFamily="34" charset="0"/>
              </a:rPr>
              <a:t>By:</a:t>
            </a:r>
            <a:endParaRPr lang="en-US" sz="2400" b="1" dirty="0">
              <a:solidFill>
                <a:schemeClr val="bg1">
                  <a:lumMod val="95000"/>
                </a:schemeClr>
              </a:solidFill>
            </a:endParaRPr>
          </a:p>
          <a:p>
            <a:pPr marL="0" indent="0" algn="l">
              <a:lnSpc>
                <a:spcPts val="3000"/>
              </a:lnSpc>
              <a:buNone/>
            </a:pPr>
            <a:r>
              <a:rPr lang="en-US" sz="2400" b="1" dirty="0">
                <a:solidFill>
                  <a:schemeClr val="bg1">
                    <a:lumMod val="95000"/>
                  </a:schemeClr>
                </a:solidFill>
                <a:latin typeface="Arial Black" panose="020B0A04020102020204" pitchFamily="34" charset="0"/>
              </a:rPr>
              <a:t>Sneha Maji (RA2411004010126)</a:t>
            </a:r>
            <a:endParaRPr lang="en-US" sz="2400" b="1" dirty="0">
              <a:solidFill>
                <a:schemeClr val="bg1">
                  <a:lumMod val="95000"/>
                </a:schemeClr>
              </a:solidFill>
            </a:endParaRPr>
          </a:p>
          <a:p>
            <a:pPr>
              <a:lnSpc>
                <a:spcPts val="3000"/>
              </a:lnSpc>
            </a:pPr>
            <a:r>
              <a:rPr lang="en-US" sz="2400" b="1" dirty="0">
                <a:solidFill>
                  <a:schemeClr val="bg1">
                    <a:lumMod val="95000"/>
                  </a:schemeClr>
                </a:solidFill>
                <a:latin typeface="Arial Black" panose="020B0A04020102020204" pitchFamily="34" charset="0"/>
              </a:rPr>
              <a:t>Ananya Maurya (RA2411004010180)</a:t>
            </a:r>
            <a:endParaRPr lang="en-US" sz="2400" b="1" dirty="0">
              <a:solidFill>
                <a:schemeClr val="bg1">
                  <a:lumMod val="95000"/>
                </a:schemeClr>
              </a:solidFill>
            </a:endParaRPr>
          </a:p>
          <a:p>
            <a:pPr>
              <a:lnSpc>
                <a:spcPts val="3000"/>
              </a:lnSpc>
            </a:pPr>
            <a:r>
              <a:rPr lang="en-US" sz="2400" b="1" dirty="0">
                <a:solidFill>
                  <a:schemeClr val="bg1">
                    <a:lumMod val="95000"/>
                  </a:schemeClr>
                </a:solidFill>
                <a:latin typeface="Arial Black" panose="020B0A04020102020204" pitchFamily="34" charset="0"/>
              </a:rPr>
              <a:t>Arpita Choudhury (RA2411004010177)</a:t>
            </a:r>
          </a:p>
        </p:txBody>
      </p:sp>
      <p:sp>
        <p:nvSpPr>
          <p:cNvPr id="9" name="TextBox 8">
            <a:extLst>
              <a:ext uri="{FF2B5EF4-FFF2-40B4-BE49-F238E27FC236}">
                <a16:creationId xmlns:a16="http://schemas.microsoft.com/office/drawing/2014/main" id="{03A65FAC-E397-5DF2-FD72-D52A3F0C89D7}"/>
              </a:ext>
            </a:extLst>
          </p:cNvPr>
          <p:cNvSpPr txBox="1"/>
          <p:nvPr/>
        </p:nvSpPr>
        <p:spPr>
          <a:xfrm>
            <a:off x="1685680" y="298905"/>
            <a:ext cx="10437542" cy="1323439"/>
          </a:xfrm>
          <a:prstGeom prst="rect">
            <a:avLst/>
          </a:prstGeom>
          <a:noFill/>
        </p:spPr>
        <p:txBody>
          <a:bodyPr wrap="square" rtlCol="0">
            <a:spAutoFit/>
          </a:bodyPr>
          <a:lstStyle/>
          <a:p>
            <a:pPr algn="ctr"/>
            <a:r>
              <a:rPr lang="en-US" sz="4000" dirty="0">
                <a:solidFill>
                  <a:schemeClr val="bg1"/>
                </a:solidFill>
                <a:latin typeface="Algerian" panose="04020705040A02060702" pitchFamily="82" charset="0"/>
              </a:rPr>
              <a:t>      21CSS101J</a:t>
            </a:r>
          </a:p>
          <a:p>
            <a:pPr algn="ctr"/>
            <a:r>
              <a:rPr lang="en-US" sz="4000" dirty="0">
                <a:solidFill>
                  <a:schemeClr val="bg1"/>
                </a:solidFill>
                <a:latin typeface="Algerian" panose="04020705040A02060702" pitchFamily="82" charset="0"/>
              </a:rPr>
              <a:t> Programming for problem solving</a:t>
            </a:r>
            <a:endParaRPr lang="en-IN" sz="4000" dirty="0">
              <a:solidFill>
                <a:schemeClr val="bg1"/>
              </a:solidFill>
              <a:latin typeface="Algerian" panose="04020705040A02060702" pitchFamily="82" charset="0"/>
            </a:endParaRPr>
          </a:p>
        </p:txBody>
      </p:sp>
    </p:spTree>
    <p:extLst>
      <p:ext uri="{BB962C8B-B14F-4D97-AF65-F5344CB8AC3E}">
        <p14:creationId xmlns:p14="http://schemas.microsoft.com/office/powerpoint/2010/main" val="351360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236051" y="139816"/>
            <a:ext cx="9144000" cy="2816066"/>
          </a:xfrm>
          <a:prstGeom prst="rect">
            <a:avLst/>
          </a:prstGeom>
          <a:noFill/>
          <a:ln/>
        </p:spPr>
        <p:txBody>
          <a:bodyPr wrap="square" lIns="0" tIns="0" rIns="0" bIns="0" rtlCol="0" anchor="t"/>
          <a:lstStyle/>
          <a:p>
            <a:pPr marL="0" indent="0" algn="l">
              <a:lnSpc>
                <a:spcPts val="5500"/>
              </a:lnSpc>
              <a:buNone/>
            </a:pPr>
            <a:r>
              <a:rPr lang="en-US" sz="3600" u="sng" dirty="0">
                <a:solidFill>
                  <a:schemeClr val="bg1"/>
                </a:solidFill>
                <a:latin typeface="Algerian" panose="04020705040A02060702" pitchFamily="82" charset="0"/>
              </a:rPr>
              <a:t>A</a:t>
            </a:r>
            <a:r>
              <a:rPr lang="en-IN" sz="3600" u="sng" dirty="0">
                <a:solidFill>
                  <a:schemeClr val="bg1"/>
                </a:solidFill>
                <a:latin typeface="Algerian" panose="04020705040A02060702" pitchFamily="82" charset="0"/>
              </a:rPr>
              <a:t>BSTRACT:</a:t>
            </a:r>
          </a:p>
          <a:p>
            <a:pPr marL="0" indent="0" algn="l">
              <a:lnSpc>
                <a:spcPts val="5500"/>
              </a:lnSpc>
              <a:buNone/>
            </a:pPr>
            <a:endParaRPr lang="en-IN" sz="3600" u="sng" dirty="0">
              <a:solidFill>
                <a:schemeClr val="bg1"/>
              </a:solidFill>
              <a:latin typeface="Algerian" panose="04020705040A02060702" pitchFamily="82" charset="0"/>
            </a:endParaRPr>
          </a:p>
          <a:p>
            <a:pPr marL="0" indent="0" algn="l">
              <a:lnSpc>
                <a:spcPts val="5500"/>
              </a:lnSpc>
              <a:buNone/>
            </a:pPr>
            <a:endParaRPr lang="en-IN" sz="3600" dirty="0">
              <a:solidFill>
                <a:schemeClr val="bg1"/>
              </a:solidFill>
              <a:latin typeface="Algerian" panose="04020705040A02060702" pitchFamily="82" charset="0"/>
            </a:endParaRPr>
          </a:p>
        </p:txBody>
      </p:sp>
      <p:sp>
        <p:nvSpPr>
          <p:cNvPr id="5" name="Text 2"/>
          <p:cNvSpPr/>
          <p:nvPr/>
        </p:nvSpPr>
        <p:spPr>
          <a:xfrm>
            <a:off x="962263" y="3821254"/>
            <a:ext cx="7468553" cy="766048"/>
          </a:xfrm>
          <a:prstGeom prst="rect">
            <a:avLst/>
          </a:prstGeom>
          <a:noFill/>
          <a:ln/>
        </p:spPr>
        <p:txBody>
          <a:bodyPr wrap="square" lIns="0" tIns="0" rIns="0" bIns="0" rtlCol="0" anchor="t"/>
          <a:lstStyle/>
          <a:p>
            <a:pPr marL="0" indent="0" algn="l">
              <a:lnSpc>
                <a:spcPts val="3000"/>
              </a:lnSpc>
              <a:buNone/>
            </a:pPr>
            <a:endParaRPr lang="en-US" sz="2800" dirty="0">
              <a:solidFill>
                <a:schemeClr val="bg1">
                  <a:lumMod val="95000"/>
                </a:schemeClr>
              </a:solidFill>
              <a:latin typeface="Arial Black" panose="020B0A04020102020204" pitchFamily="34" charset="0"/>
            </a:endParaRPr>
          </a:p>
          <a:p>
            <a:pPr marL="0" indent="0" algn="l">
              <a:lnSpc>
                <a:spcPts val="3000"/>
              </a:lnSpc>
              <a:buNone/>
            </a:pPr>
            <a:endParaRPr lang="en-US" sz="3600" dirty="0">
              <a:solidFill>
                <a:schemeClr val="bg1">
                  <a:lumMod val="95000"/>
                </a:schemeClr>
              </a:solidFill>
            </a:endParaRPr>
          </a:p>
        </p:txBody>
      </p:sp>
      <p:sp>
        <p:nvSpPr>
          <p:cNvPr id="7" name="Text 4"/>
          <p:cNvSpPr/>
          <p:nvPr/>
        </p:nvSpPr>
        <p:spPr>
          <a:xfrm>
            <a:off x="962263" y="6497122"/>
            <a:ext cx="133707" cy="97512"/>
          </a:xfrm>
          <a:prstGeom prst="rect">
            <a:avLst/>
          </a:prstGeom>
          <a:noFill/>
          <a:ln/>
        </p:spPr>
        <p:txBody>
          <a:bodyPr wrap="none" lIns="0" tIns="0" rIns="0" bIns="0" rtlCol="0" anchor="t"/>
          <a:lstStyle/>
          <a:p>
            <a:pPr marL="0" indent="0" algn="ctr">
              <a:lnSpc>
                <a:spcPts val="750"/>
              </a:lnSpc>
              <a:buNone/>
            </a:pPr>
            <a:r>
              <a:rPr lang="en-US" sz="750" dirty="0">
                <a:solidFill>
                  <a:srgbClr val="4D4D51"/>
                </a:solidFill>
                <a:latin typeface="Arimo Medium" pitchFamily="34" charset="0"/>
                <a:ea typeface="Arimo Medium" pitchFamily="34" charset="-122"/>
                <a:cs typeface="Arimo Medium" pitchFamily="34" charset="-120"/>
              </a:rPr>
              <a:t>AB</a:t>
            </a:r>
            <a:endParaRPr lang="en-US" sz="750" dirty="0"/>
          </a:p>
        </p:txBody>
      </p:sp>
      <p:sp>
        <p:nvSpPr>
          <p:cNvPr id="6" name="TextBox 5">
            <a:extLst>
              <a:ext uri="{FF2B5EF4-FFF2-40B4-BE49-F238E27FC236}">
                <a16:creationId xmlns:a16="http://schemas.microsoft.com/office/drawing/2014/main" id="{C8F69C81-349B-1260-A78B-793ED12A5C28}"/>
              </a:ext>
            </a:extLst>
          </p:cNvPr>
          <p:cNvSpPr txBox="1"/>
          <p:nvPr/>
        </p:nvSpPr>
        <p:spPr>
          <a:xfrm rot="10800000" flipH="1" flipV="1">
            <a:off x="129960" y="689074"/>
            <a:ext cx="14370476" cy="7171194"/>
          </a:xfrm>
          <a:prstGeom prst="rect">
            <a:avLst/>
          </a:prstGeom>
          <a:noFill/>
        </p:spPr>
        <p:txBody>
          <a:bodyPr wrap="square" rtlCol="0">
            <a:spAutoFit/>
          </a:bodyPr>
          <a:lstStyle/>
          <a:p>
            <a:endParaRPr lang="en-US" sz="2800" b="1" dirty="0">
              <a:solidFill>
                <a:schemeClr val="bg1"/>
              </a:solidFill>
            </a:endParaRPr>
          </a:p>
          <a:p>
            <a:r>
              <a:rPr lang="en-US" sz="2800" b="1" u="sng" dirty="0">
                <a:solidFill>
                  <a:schemeClr val="bg1"/>
                </a:solidFill>
              </a:rPr>
              <a:t>PROBLEM STATEMENT</a:t>
            </a:r>
            <a:r>
              <a:rPr lang="en-US" sz="2400" b="1" dirty="0">
                <a:solidFill>
                  <a:schemeClr val="bg1"/>
                </a:solidFill>
              </a:rPr>
              <a:t>: Cardiovascular diseases are a leading cause of morbidity and mortality worldwide, yet many individuals lack access to personalized health assessments that can help them understand their heart health. Traditional health assessment methods can be complex and difficult for non-medical individuals to interpret, leading to a gap in awareness and proactive health management.</a:t>
            </a:r>
          </a:p>
          <a:p>
            <a:r>
              <a:rPr lang="en-US" sz="2800" b="1" u="sng" dirty="0">
                <a:solidFill>
                  <a:schemeClr val="bg1"/>
                </a:solidFill>
              </a:rPr>
              <a:t>INDICATION OF METHODOLOGY</a:t>
            </a:r>
            <a:r>
              <a:rPr lang="en-US" sz="2800" b="1" dirty="0">
                <a:solidFill>
                  <a:schemeClr val="bg1"/>
                </a:solidFill>
              </a:rPr>
              <a:t>: </a:t>
            </a:r>
            <a:r>
              <a:rPr lang="en-US" sz="2400" b="1" dirty="0">
                <a:solidFill>
                  <a:schemeClr val="bg1"/>
                </a:solidFill>
              </a:rPr>
              <a:t>This project introduces a web-based application that utilizes OpenAI's language model to generate personalized heart health reports based on user-provided patient data. The application collects various health metrics, including age, sex, chest pain type, blood pressure, cholesterol levels, and other relevant factors. The data is processed through the language model, which interprets the information and generates a comprehensive health report.</a:t>
            </a:r>
          </a:p>
          <a:p>
            <a:r>
              <a:rPr lang="en-US" sz="3200" b="1" u="sng" dirty="0">
                <a:solidFill>
                  <a:schemeClr val="bg1"/>
                </a:solidFill>
              </a:rPr>
              <a:t>MAIN FINDINGS</a:t>
            </a:r>
            <a:r>
              <a:rPr lang="en-US" sz="3200" b="1" dirty="0">
                <a:solidFill>
                  <a:schemeClr val="bg1"/>
                </a:solidFill>
              </a:rPr>
              <a:t>: </a:t>
            </a:r>
            <a:r>
              <a:rPr lang="en-US" sz="2400" b="1" dirty="0">
                <a:solidFill>
                  <a:schemeClr val="bg1"/>
                </a:solidFill>
              </a:rPr>
              <a:t>The application successfully generates detailed and user-friendly health reports that include interpretations of the patient's values, risk assessments, and lifestyle and diet suggestions. Users receive insights tailored to their specific health profiles, enabling them to make informed decisions regarding their heart health.</a:t>
            </a:r>
          </a:p>
          <a:p>
            <a:r>
              <a:rPr lang="en-US" sz="3200" b="1" u="sng" dirty="0">
                <a:solidFill>
                  <a:schemeClr val="bg1"/>
                </a:solidFill>
              </a:rPr>
              <a:t>PRINCIPAL CONCLUSION</a:t>
            </a:r>
            <a:r>
              <a:rPr lang="en-US" sz="2400" b="1" dirty="0">
                <a:solidFill>
                  <a:schemeClr val="bg1"/>
                </a:solidFill>
              </a:rPr>
              <a:t>: The personalized heart health report generator demonstrates the potential of leveraging advanced AI technologies to enhance individual understanding of cardiovascular health. By providing accessible and comprehensible health assessments, the application aims to empower users to take proactive steps in managing their heart health and improving their overall well-being.</a:t>
            </a:r>
            <a:r>
              <a:rPr lang="en-US" dirty="0">
                <a:solidFill>
                  <a:schemeClr val="bg1"/>
                </a:solidFill>
              </a:rPr>
              <a:t>.</a:t>
            </a:r>
            <a:endParaRPr lang="en-IN"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487151" y="488262"/>
            <a:ext cx="7468553" cy="2112050"/>
          </a:xfrm>
          <a:prstGeom prst="rect">
            <a:avLst/>
          </a:prstGeom>
          <a:noFill/>
          <a:ln/>
        </p:spPr>
        <p:txBody>
          <a:bodyPr wrap="square" lIns="0" tIns="0" rIns="0" bIns="0" rtlCol="0" anchor="t"/>
          <a:lstStyle/>
          <a:p>
            <a:pPr marL="0" indent="0" algn="l">
              <a:lnSpc>
                <a:spcPts val="5500"/>
              </a:lnSpc>
              <a:buNone/>
            </a:pPr>
            <a:r>
              <a:rPr lang="en-US" sz="4000" u="sng" dirty="0">
                <a:solidFill>
                  <a:schemeClr val="bg1"/>
                </a:solidFill>
                <a:latin typeface="Algerian" panose="04020705040A02060702" pitchFamily="82" charset="0"/>
              </a:rPr>
              <a:t>BLOCK DIAGRAM:</a:t>
            </a:r>
          </a:p>
        </p:txBody>
      </p:sp>
      <p:sp>
        <p:nvSpPr>
          <p:cNvPr id="4" name="Text 1"/>
          <p:cNvSpPr/>
          <p:nvPr/>
        </p:nvSpPr>
        <p:spPr>
          <a:xfrm>
            <a:off x="487151" y="2217288"/>
            <a:ext cx="8596208" cy="383024"/>
          </a:xfrm>
          <a:prstGeom prst="rect">
            <a:avLst/>
          </a:prstGeom>
          <a:noFill/>
          <a:ln/>
        </p:spPr>
        <p:txBody>
          <a:bodyPr wrap="none" lIns="0" tIns="0" rIns="0" bIns="0" rtlCol="0" anchor="t"/>
          <a:lstStyle/>
          <a:p>
            <a:endParaRPr lang="en-US" sz="3600" dirty="0">
              <a:solidFill>
                <a:schemeClr val="bg1"/>
              </a:solidFill>
            </a:endParaRPr>
          </a:p>
        </p:txBody>
      </p:sp>
      <p:pic>
        <p:nvPicPr>
          <p:cNvPr id="1026" name="Picture 2" descr="Generated image">
            <a:extLst>
              <a:ext uri="{FF2B5EF4-FFF2-40B4-BE49-F238E27FC236}">
                <a16:creationId xmlns:a16="http://schemas.microsoft.com/office/drawing/2014/main" id="{33C2673F-AA9E-52ED-6D17-57EB0C792F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1653" y="1544287"/>
            <a:ext cx="4244051" cy="6366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288250" y="532348"/>
            <a:ext cx="4729996" cy="521256"/>
          </a:xfrm>
          <a:prstGeom prst="rect">
            <a:avLst/>
          </a:prstGeom>
          <a:noFill/>
          <a:ln/>
        </p:spPr>
        <p:txBody>
          <a:bodyPr wrap="none" lIns="0" tIns="0" rIns="0" bIns="0" rtlCol="0" anchor="t"/>
          <a:lstStyle/>
          <a:p>
            <a:pPr marL="0" indent="0" algn="l">
              <a:lnSpc>
                <a:spcPts val="4100"/>
              </a:lnSpc>
              <a:buNone/>
            </a:pPr>
            <a:r>
              <a:rPr lang="en-US" sz="4000" u="sng" dirty="0">
                <a:solidFill>
                  <a:schemeClr val="bg1">
                    <a:lumMod val="95000"/>
                  </a:schemeClr>
                </a:solidFill>
                <a:latin typeface="Algerian" panose="04020705040A02060702" pitchFamily="82" charset="0"/>
              </a:rPr>
              <a:t>C</a:t>
            </a:r>
            <a:r>
              <a:rPr lang="en-IN" sz="4000" u="sng" dirty="0" err="1">
                <a:solidFill>
                  <a:schemeClr val="bg1">
                    <a:lumMod val="95000"/>
                  </a:schemeClr>
                </a:solidFill>
                <a:latin typeface="Algerian" panose="04020705040A02060702" pitchFamily="82" charset="0"/>
              </a:rPr>
              <a:t>harcterisctics</a:t>
            </a:r>
            <a:r>
              <a:rPr lang="en-IN" sz="4000" u="sng" dirty="0">
                <a:solidFill>
                  <a:schemeClr val="bg1">
                    <a:lumMod val="95000"/>
                  </a:schemeClr>
                </a:solidFill>
                <a:latin typeface="Algerian" panose="04020705040A02060702" pitchFamily="82" charset="0"/>
              </a:rPr>
              <a:t> of dataset:</a:t>
            </a:r>
            <a:endParaRPr lang="en-US" sz="4000" u="sng" dirty="0">
              <a:solidFill>
                <a:schemeClr val="bg1">
                  <a:lumMod val="95000"/>
                </a:schemeClr>
              </a:solidFill>
              <a:latin typeface="Algerian" panose="04020705040A02060702" pitchFamily="82" charset="0"/>
            </a:endParaRPr>
          </a:p>
        </p:txBody>
      </p:sp>
      <p:sp>
        <p:nvSpPr>
          <p:cNvPr id="5" name="Text 1"/>
          <p:cNvSpPr/>
          <p:nvPr/>
        </p:nvSpPr>
        <p:spPr>
          <a:xfrm>
            <a:off x="1772364" y="3667125"/>
            <a:ext cx="3245882" cy="260509"/>
          </a:xfrm>
          <a:prstGeom prst="rect">
            <a:avLst/>
          </a:prstGeom>
          <a:noFill/>
          <a:ln/>
        </p:spPr>
        <p:txBody>
          <a:bodyPr wrap="none" lIns="0" tIns="0" rIns="0" bIns="0" rtlCol="0" anchor="t"/>
          <a:lstStyle/>
          <a:p>
            <a:pPr marL="0" indent="0" algn="l">
              <a:lnSpc>
                <a:spcPts val="2050"/>
              </a:lnSpc>
              <a:buNone/>
            </a:pPr>
            <a:endParaRPr lang="en-US" sz="1600" dirty="0"/>
          </a:p>
        </p:txBody>
      </p:sp>
      <p:sp>
        <p:nvSpPr>
          <p:cNvPr id="6" name="Text 2"/>
          <p:cNvSpPr/>
          <p:nvPr/>
        </p:nvSpPr>
        <p:spPr>
          <a:xfrm>
            <a:off x="869115" y="3888233"/>
            <a:ext cx="12237720" cy="2769045"/>
          </a:xfrm>
          <a:prstGeom prst="rect">
            <a:avLst/>
          </a:prstGeom>
          <a:noFill/>
          <a:ln/>
        </p:spPr>
        <p:txBody>
          <a:bodyPr wrap="none" lIns="0" tIns="0" rIns="0" bIns="0" rtlCol="0" anchor="t"/>
          <a:lstStyle/>
          <a:p>
            <a:endParaRPr lang="en-US" sz="2400" dirty="0">
              <a:solidFill>
                <a:schemeClr val="bg1"/>
              </a:solidFill>
            </a:endParaRPr>
          </a:p>
        </p:txBody>
      </p:sp>
      <p:sp>
        <p:nvSpPr>
          <p:cNvPr id="9" name="Text 4"/>
          <p:cNvSpPr/>
          <p:nvPr/>
        </p:nvSpPr>
        <p:spPr>
          <a:xfrm>
            <a:off x="1772364" y="5097423"/>
            <a:ext cx="12237720" cy="283607"/>
          </a:xfrm>
          <a:prstGeom prst="rect">
            <a:avLst/>
          </a:prstGeom>
          <a:noFill/>
          <a:ln/>
        </p:spPr>
        <p:txBody>
          <a:bodyPr wrap="none" lIns="0" tIns="0" rIns="0" bIns="0" rtlCol="0" anchor="t"/>
          <a:lstStyle/>
          <a:p>
            <a:pPr marL="0" indent="0" algn="l">
              <a:lnSpc>
                <a:spcPts val="2200"/>
              </a:lnSpc>
              <a:buNone/>
            </a:pPr>
            <a:endParaRPr lang="en-US" sz="1350" dirty="0"/>
          </a:p>
        </p:txBody>
      </p:sp>
      <p:sp>
        <p:nvSpPr>
          <p:cNvPr id="12" name="Text 6"/>
          <p:cNvSpPr/>
          <p:nvPr/>
        </p:nvSpPr>
        <p:spPr>
          <a:xfrm>
            <a:off x="1772364" y="6160889"/>
            <a:ext cx="12237720" cy="283607"/>
          </a:xfrm>
          <a:prstGeom prst="rect">
            <a:avLst/>
          </a:prstGeom>
          <a:noFill/>
          <a:ln/>
        </p:spPr>
        <p:txBody>
          <a:bodyPr wrap="none" lIns="0" tIns="0" rIns="0" bIns="0" rtlCol="0" anchor="t"/>
          <a:lstStyle/>
          <a:p>
            <a:pPr marL="0" indent="0" algn="l">
              <a:lnSpc>
                <a:spcPts val="2200"/>
              </a:lnSpc>
              <a:buNone/>
            </a:pPr>
            <a:endParaRPr lang="en-US" sz="1350" dirty="0"/>
          </a:p>
        </p:txBody>
      </p:sp>
      <p:sp>
        <p:nvSpPr>
          <p:cNvPr id="15" name="Text 8"/>
          <p:cNvSpPr/>
          <p:nvPr/>
        </p:nvSpPr>
        <p:spPr>
          <a:xfrm>
            <a:off x="1772364" y="7224355"/>
            <a:ext cx="12237720" cy="283607"/>
          </a:xfrm>
          <a:prstGeom prst="rect">
            <a:avLst/>
          </a:prstGeom>
          <a:noFill/>
          <a:ln/>
        </p:spPr>
        <p:txBody>
          <a:bodyPr wrap="none" lIns="0" tIns="0" rIns="0" bIns="0" rtlCol="0" anchor="t"/>
          <a:lstStyle/>
          <a:p>
            <a:pPr marL="0" indent="0" algn="l">
              <a:lnSpc>
                <a:spcPts val="2200"/>
              </a:lnSpc>
              <a:buNone/>
            </a:pPr>
            <a:endParaRPr lang="en-US" sz="1350" dirty="0"/>
          </a:p>
        </p:txBody>
      </p:sp>
      <p:sp>
        <p:nvSpPr>
          <p:cNvPr id="11" name="TextBox 10">
            <a:extLst>
              <a:ext uri="{FF2B5EF4-FFF2-40B4-BE49-F238E27FC236}">
                <a16:creationId xmlns:a16="http://schemas.microsoft.com/office/drawing/2014/main" id="{99834B01-3949-1357-40BD-349A83815723}"/>
              </a:ext>
            </a:extLst>
          </p:cNvPr>
          <p:cNvSpPr txBox="1"/>
          <p:nvPr/>
        </p:nvSpPr>
        <p:spPr>
          <a:xfrm>
            <a:off x="288250" y="1363255"/>
            <a:ext cx="13297087" cy="5262979"/>
          </a:xfrm>
          <a:prstGeom prst="rect">
            <a:avLst/>
          </a:prstGeom>
          <a:noFill/>
        </p:spPr>
        <p:txBody>
          <a:bodyPr wrap="square">
            <a:spAutoFit/>
          </a:bodyPr>
          <a:lstStyle/>
          <a:p>
            <a:pPr algn="l">
              <a:buFont typeface="Arial" panose="020B0604020202020204" pitchFamily="34" charset="0"/>
              <a:buChar char="•"/>
            </a:pPr>
            <a:r>
              <a:rPr lang="en-IN" sz="2400" b="0" i="0" dirty="0">
                <a:solidFill>
                  <a:schemeClr val="bg1"/>
                </a:solidFill>
                <a:effectLst/>
                <a:latin typeface="__Inter_d65c78"/>
              </a:rPr>
              <a:t>The application requires the following patient data:</a:t>
            </a:r>
          </a:p>
          <a:p>
            <a:pPr marL="742950" lvl="1" indent="-285750" algn="l">
              <a:buFont typeface="Arial" panose="020B0604020202020204" pitchFamily="34" charset="0"/>
              <a:buChar char="•"/>
            </a:pPr>
            <a:r>
              <a:rPr lang="en-IN" sz="2400" b="0" i="0" dirty="0">
                <a:solidFill>
                  <a:schemeClr val="bg1"/>
                </a:solidFill>
                <a:effectLst/>
                <a:latin typeface="__Inter_d65c78"/>
              </a:rPr>
              <a:t>Age: Numeric value representing the patient's age.</a:t>
            </a:r>
          </a:p>
          <a:p>
            <a:pPr marL="742950" lvl="1" indent="-285750" algn="l">
              <a:buFont typeface="Arial" panose="020B0604020202020204" pitchFamily="34" charset="0"/>
              <a:buChar char="•"/>
            </a:pPr>
            <a:r>
              <a:rPr lang="en-IN" sz="2400" b="0" i="0" dirty="0">
                <a:solidFill>
                  <a:schemeClr val="bg1"/>
                </a:solidFill>
                <a:effectLst/>
                <a:latin typeface="__Inter_d65c78"/>
              </a:rPr>
              <a:t>Sex: Male or Female.</a:t>
            </a:r>
          </a:p>
          <a:p>
            <a:pPr marL="742950" lvl="1" indent="-285750" algn="l">
              <a:buFont typeface="Arial" panose="020B0604020202020204" pitchFamily="34" charset="0"/>
              <a:buChar char="•"/>
            </a:pPr>
            <a:r>
              <a:rPr lang="en-IN" sz="2400" b="0" i="0" dirty="0">
                <a:solidFill>
                  <a:schemeClr val="bg1"/>
                </a:solidFill>
                <a:effectLst/>
                <a:latin typeface="__Inter_d65c78"/>
              </a:rPr>
              <a:t>Chest Pain Type (cp): Categorical (Typical, Atypical, Non-anginal, Asymptomatic).</a:t>
            </a:r>
          </a:p>
          <a:p>
            <a:pPr marL="742950" lvl="1" indent="-285750" algn="l">
              <a:buFont typeface="Arial" panose="020B0604020202020204" pitchFamily="34" charset="0"/>
              <a:buChar char="•"/>
            </a:pPr>
            <a:r>
              <a:rPr lang="en-IN" sz="2400" b="0" i="0" dirty="0">
                <a:solidFill>
                  <a:schemeClr val="bg1"/>
                </a:solidFill>
                <a:effectLst/>
                <a:latin typeface="__Inter_d65c78"/>
              </a:rPr>
              <a:t>Resting Blood Pressure (</a:t>
            </a:r>
            <a:r>
              <a:rPr lang="en-IN" sz="2400" b="0" i="0" dirty="0" err="1">
                <a:solidFill>
                  <a:schemeClr val="bg1"/>
                </a:solidFill>
                <a:effectLst/>
                <a:latin typeface="__Inter_d65c78"/>
              </a:rPr>
              <a:t>trestbps</a:t>
            </a:r>
            <a:r>
              <a:rPr lang="en-IN" sz="2400" b="0" i="0" dirty="0">
                <a:solidFill>
                  <a:schemeClr val="bg1"/>
                </a:solidFill>
                <a:effectLst/>
                <a:latin typeface="__Inter_d65c78"/>
              </a:rPr>
              <a:t>): Numeric value in mm Hg.</a:t>
            </a:r>
          </a:p>
          <a:p>
            <a:pPr marL="742950" lvl="1" indent="-285750" algn="l">
              <a:buFont typeface="Arial" panose="020B0604020202020204" pitchFamily="34" charset="0"/>
              <a:buChar char="•"/>
            </a:pPr>
            <a:r>
              <a:rPr lang="en-IN" sz="2400" b="0" i="0" dirty="0">
                <a:solidFill>
                  <a:schemeClr val="bg1"/>
                </a:solidFill>
                <a:effectLst/>
                <a:latin typeface="__Inter_d65c78"/>
              </a:rPr>
              <a:t>Cholesterol (</a:t>
            </a:r>
            <a:r>
              <a:rPr lang="en-IN" sz="2400" b="0" i="0" dirty="0" err="1">
                <a:solidFill>
                  <a:schemeClr val="bg1"/>
                </a:solidFill>
                <a:effectLst/>
                <a:latin typeface="__Inter_d65c78"/>
              </a:rPr>
              <a:t>chol</a:t>
            </a:r>
            <a:r>
              <a:rPr lang="en-IN" sz="2400" b="0" i="0" dirty="0">
                <a:solidFill>
                  <a:schemeClr val="bg1"/>
                </a:solidFill>
                <a:effectLst/>
                <a:latin typeface="__Inter_d65c78"/>
              </a:rPr>
              <a:t>): Numeric value in mg/dL.</a:t>
            </a:r>
          </a:p>
          <a:p>
            <a:pPr marL="742950" lvl="1" indent="-285750" algn="l">
              <a:buFont typeface="Arial" panose="020B0604020202020204" pitchFamily="34" charset="0"/>
              <a:buChar char="•"/>
            </a:pPr>
            <a:r>
              <a:rPr lang="en-IN" sz="2400" b="0" i="0" dirty="0">
                <a:solidFill>
                  <a:schemeClr val="bg1"/>
                </a:solidFill>
                <a:effectLst/>
                <a:latin typeface="__Inter_d65c78"/>
              </a:rPr>
              <a:t>Fasting Blood Sugar (</a:t>
            </a:r>
            <a:r>
              <a:rPr lang="en-IN" sz="2400" b="0" i="0" dirty="0" err="1">
                <a:solidFill>
                  <a:schemeClr val="bg1"/>
                </a:solidFill>
                <a:effectLst/>
                <a:latin typeface="__Inter_d65c78"/>
              </a:rPr>
              <a:t>fbs</a:t>
            </a:r>
            <a:r>
              <a:rPr lang="en-IN" sz="2400" b="0" i="0" dirty="0">
                <a:solidFill>
                  <a:schemeClr val="bg1"/>
                </a:solidFill>
                <a:effectLst/>
                <a:latin typeface="__Inter_d65c78"/>
              </a:rPr>
              <a:t>): Yes or No.</a:t>
            </a:r>
          </a:p>
          <a:p>
            <a:pPr marL="742950" lvl="1" indent="-285750" algn="l">
              <a:buFont typeface="Arial" panose="020B0604020202020204" pitchFamily="34" charset="0"/>
              <a:buChar char="•"/>
            </a:pPr>
            <a:r>
              <a:rPr lang="en-IN" sz="2400" b="0" i="0" dirty="0">
                <a:solidFill>
                  <a:schemeClr val="bg1"/>
                </a:solidFill>
                <a:effectLst/>
                <a:latin typeface="__Inter_d65c78"/>
              </a:rPr>
              <a:t>Resting ECG (</a:t>
            </a:r>
            <a:r>
              <a:rPr lang="en-IN" sz="2400" b="0" i="0" dirty="0" err="1">
                <a:solidFill>
                  <a:schemeClr val="bg1"/>
                </a:solidFill>
                <a:effectLst/>
                <a:latin typeface="__Inter_d65c78"/>
              </a:rPr>
              <a:t>restecg</a:t>
            </a:r>
            <a:r>
              <a:rPr lang="en-IN" sz="2400" b="0" i="0" dirty="0">
                <a:solidFill>
                  <a:schemeClr val="bg1"/>
                </a:solidFill>
                <a:effectLst/>
                <a:latin typeface="__Inter_d65c78"/>
              </a:rPr>
              <a:t>): Categorical (Normal, ST-T wave abnormality, Left ventricular hypertrophy).</a:t>
            </a:r>
          </a:p>
          <a:p>
            <a:pPr marL="742950" lvl="1" indent="-285750" algn="l">
              <a:buFont typeface="Arial" panose="020B0604020202020204" pitchFamily="34" charset="0"/>
              <a:buChar char="•"/>
            </a:pPr>
            <a:r>
              <a:rPr lang="en-IN" sz="2400" b="0" i="0" dirty="0">
                <a:solidFill>
                  <a:schemeClr val="bg1"/>
                </a:solidFill>
                <a:effectLst/>
                <a:latin typeface="__Inter_d65c78"/>
              </a:rPr>
              <a:t>Max Heart Rate Achieved (</a:t>
            </a:r>
            <a:r>
              <a:rPr lang="en-IN" sz="2400" b="0" i="0" dirty="0" err="1">
                <a:solidFill>
                  <a:schemeClr val="bg1"/>
                </a:solidFill>
                <a:effectLst/>
                <a:latin typeface="__Inter_d65c78"/>
              </a:rPr>
              <a:t>thalach</a:t>
            </a:r>
            <a:r>
              <a:rPr lang="en-IN" sz="2400" b="0" i="0" dirty="0">
                <a:solidFill>
                  <a:schemeClr val="bg1"/>
                </a:solidFill>
                <a:effectLst/>
                <a:latin typeface="__Inter_d65c78"/>
              </a:rPr>
              <a:t>): Numeric value.</a:t>
            </a:r>
          </a:p>
          <a:p>
            <a:pPr marL="742950" lvl="1" indent="-285750" algn="l">
              <a:buFont typeface="Arial" panose="020B0604020202020204" pitchFamily="34" charset="0"/>
              <a:buChar char="•"/>
            </a:pPr>
            <a:r>
              <a:rPr lang="en-IN" sz="2400" b="0" i="0" dirty="0">
                <a:solidFill>
                  <a:schemeClr val="bg1"/>
                </a:solidFill>
                <a:effectLst/>
                <a:latin typeface="__Inter_d65c78"/>
              </a:rPr>
              <a:t>Exercise Induced Angina (</a:t>
            </a:r>
            <a:r>
              <a:rPr lang="en-IN" sz="2400" b="0" i="0" dirty="0" err="1">
                <a:solidFill>
                  <a:schemeClr val="bg1"/>
                </a:solidFill>
                <a:effectLst/>
                <a:latin typeface="__Inter_d65c78"/>
              </a:rPr>
              <a:t>exang</a:t>
            </a:r>
            <a:r>
              <a:rPr lang="en-IN" sz="2400" b="0" i="0" dirty="0">
                <a:solidFill>
                  <a:schemeClr val="bg1"/>
                </a:solidFill>
                <a:effectLst/>
                <a:latin typeface="__Inter_d65c78"/>
              </a:rPr>
              <a:t>): Yes or No.</a:t>
            </a:r>
          </a:p>
          <a:p>
            <a:pPr marL="742950" lvl="1" indent="-285750" algn="l">
              <a:buFont typeface="Arial" panose="020B0604020202020204" pitchFamily="34" charset="0"/>
              <a:buChar char="•"/>
            </a:pPr>
            <a:r>
              <a:rPr lang="en-IN" sz="2400" b="0" i="0" dirty="0">
                <a:solidFill>
                  <a:schemeClr val="bg1"/>
                </a:solidFill>
                <a:effectLst/>
                <a:latin typeface="__Inter_d65c78"/>
              </a:rPr>
              <a:t>ST Depression (</a:t>
            </a:r>
            <a:r>
              <a:rPr lang="en-IN" sz="2400" b="0" i="0" dirty="0" err="1">
                <a:solidFill>
                  <a:schemeClr val="bg1"/>
                </a:solidFill>
                <a:effectLst/>
                <a:latin typeface="__Inter_d65c78"/>
              </a:rPr>
              <a:t>oldpeak</a:t>
            </a:r>
            <a:r>
              <a:rPr lang="en-IN" sz="2400" b="0" i="0" dirty="0">
                <a:solidFill>
                  <a:schemeClr val="bg1"/>
                </a:solidFill>
                <a:effectLst/>
                <a:latin typeface="__Inter_d65c78"/>
              </a:rPr>
              <a:t>): Numeric value.</a:t>
            </a:r>
          </a:p>
          <a:p>
            <a:pPr marL="742950" lvl="1" indent="-285750" algn="l">
              <a:buFont typeface="Arial" panose="020B0604020202020204" pitchFamily="34" charset="0"/>
              <a:buChar char="•"/>
            </a:pPr>
            <a:r>
              <a:rPr lang="en-IN" sz="2400" b="0" i="0" dirty="0">
                <a:solidFill>
                  <a:schemeClr val="bg1"/>
                </a:solidFill>
                <a:effectLst/>
                <a:latin typeface="__Inter_d65c78"/>
              </a:rPr>
              <a:t>Slope of ST Segment (slope): Categorical (Upsloping, Flat, </a:t>
            </a:r>
            <a:r>
              <a:rPr lang="en-IN" sz="2400" b="0" i="0" dirty="0" err="1">
                <a:solidFill>
                  <a:schemeClr val="bg1"/>
                </a:solidFill>
                <a:effectLst/>
                <a:latin typeface="__Inter_d65c78"/>
              </a:rPr>
              <a:t>Downsloping</a:t>
            </a:r>
            <a:r>
              <a:rPr lang="en-IN" sz="2400" b="0" i="0" dirty="0">
                <a:solidFill>
                  <a:schemeClr val="bg1"/>
                </a:solidFill>
                <a:effectLst/>
                <a:latin typeface="__Inter_d65c78"/>
              </a:rPr>
              <a:t>).</a:t>
            </a:r>
          </a:p>
          <a:p>
            <a:pPr marL="742950" lvl="1" indent="-285750" algn="l">
              <a:buFont typeface="Arial" panose="020B0604020202020204" pitchFamily="34" charset="0"/>
              <a:buChar char="•"/>
            </a:pPr>
            <a:r>
              <a:rPr lang="en-IN" sz="2400" b="0" i="0" dirty="0">
                <a:solidFill>
                  <a:schemeClr val="bg1"/>
                </a:solidFill>
                <a:effectLst/>
                <a:latin typeface="__Inter_d65c78"/>
              </a:rPr>
              <a:t>Number of Major Vessels (ca): Numeric value (0-3).</a:t>
            </a:r>
          </a:p>
          <a:p>
            <a:pPr marL="742950" lvl="1" indent="-285750" algn="l">
              <a:buFont typeface="Arial" panose="020B0604020202020204" pitchFamily="34" charset="0"/>
              <a:buChar char="•"/>
            </a:pPr>
            <a:r>
              <a:rPr lang="en-IN" sz="2400" b="0" i="0" dirty="0">
                <a:solidFill>
                  <a:schemeClr val="bg1"/>
                </a:solidFill>
                <a:effectLst/>
                <a:latin typeface="__Inter_d65c78"/>
              </a:rPr>
              <a:t>Thalassemia Type (</a:t>
            </a:r>
            <a:r>
              <a:rPr lang="en-IN" sz="2400" b="0" i="0" dirty="0" err="1">
                <a:solidFill>
                  <a:schemeClr val="bg1"/>
                </a:solidFill>
                <a:effectLst/>
                <a:latin typeface="__Inter_d65c78"/>
              </a:rPr>
              <a:t>thal</a:t>
            </a:r>
            <a:r>
              <a:rPr lang="en-IN" sz="2400" b="0" i="0" dirty="0">
                <a:solidFill>
                  <a:schemeClr val="bg1"/>
                </a:solidFill>
                <a:effectLst/>
                <a:latin typeface="__Inter_d65c78"/>
              </a:rPr>
              <a:t>): Categorical (Normal, Fixed Defect, Reversible Defect).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879848" y="538744"/>
            <a:ext cx="7650242" cy="1255395"/>
          </a:xfrm>
          <a:prstGeom prst="rect">
            <a:avLst/>
          </a:prstGeom>
          <a:noFill/>
          <a:ln/>
        </p:spPr>
        <p:txBody>
          <a:bodyPr wrap="square" lIns="0" tIns="0" rIns="0" bIns="0" rtlCol="0" anchor="t"/>
          <a:lstStyle/>
          <a:p>
            <a:pPr marL="0" indent="0" algn="l">
              <a:lnSpc>
                <a:spcPts val="4900"/>
              </a:lnSpc>
              <a:buNone/>
            </a:pPr>
            <a:r>
              <a:rPr lang="en-US" sz="4000" u="sng" dirty="0">
                <a:solidFill>
                  <a:schemeClr val="bg1">
                    <a:lumMod val="95000"/>
                  </a:schemeClr>
                </a:solidFill>
                <a:latin typeface="Algerian" panose="04020705040A02060702" pitchFamily="82" charset="0"/>
              </a:rPr>
              <a:t>S</a:t>
            </a:r>
            <a:r>
              <a:rPr lang="en-IN" sz="4000" u="sng" dirty="0" err="1">
                <a:solidFill>
                  <a:schemeClr val="bg1">
                    <a:lumMod val="95000"/>
                  </a:schemeClr>
                </a:solidFill>
                <a:latin typeface="Algerian" panose="04020705040A02060702" pitchFamily="82" charset="0"/>
              </a:rPr>
              <a:t>ignificance</a:t>
            </a:r>
            <a:r>
              <a:rPr lang="en-IN" sz="4000" u="sng" dirty="0">
                <a:solidFill>
                  <a:schemeClr val="bg1">
                    <a:lumMod val="95000"/>
                  </a:schemeClr>
                </a:solidFill>
                <a:latin typeface="Algerian" panose="04020705040A02060702" pitchFamily="82" charset="0"/>
              </a:rPr>
              <a:t> OF DATASET</a:t>
            </a:r>
            <a:r>
              <a:rPr lang="en-IN" sz="4000" dirty="0">
                <a:solidFill>
                  <a:schemeClr val="bg1">
                    <a:lumMod val="95000"/>
                  </a:schemeClr>
                </a:solidFill>
                <a:latin typeface="Algerian" panose="04020705040A02060702" pitchFamily="82" charset="0"/>
              </a:rPr>
              <a:t>:</a:t>
            </a:r>
            <a:endParaRPr lang="en-US" sz="4000" dirty="0">
              <a:solidFill>
                <a:schemeClr val="bg1">
                  <a:lumMod val="95000"/>
                </a:schemeClr>
              </a:solidFill>
              <a:latin typeface="Algerian" panose="04020705040A02060702" pitchFamily="82" charset="0"/>
            </a:endParaRPr>
          </a:p>
        </p:txBody>
      </p:sp>
      <p:sp>
        <p:nvSpPr>
          <p:cNvPr id="19" name="TextBox 18">
            <a:extLst>
              <a:ext uri="{FF2B5EF4-FFF2-40B4-BE49-F238E27FC236}">
                <a16:creationId xmlns:a16="http://schemas.microsoft.com/office/drawing/2014/main" id="{52875540-0EB1-C045-F4F2-F419EA572454}"/>
              </a:ext>
            </a:extLst>
          </p:cNvPr>
          <p:cNvSpPr txBox="1"/>
          <p:nvPr/>
        </p:nvSpPr>
        <p:spPr>
          <a:xfrm>
            <a:off x="6333893" y="2408663"/>
            <a:ext cx="184731" cy="369332"/>
          </a:xfrm>
          <a:prstGeom prst="rect">
            <a:avLst/>
          </a:prstGeom>
          <a:noFill/>
        </p:spPr>
        <p:txBody>
          <a:bodyPr wrap="square" rtlCol="0">
            <a:spAutoFit/>
          </a:bodyPr>
          <a:lstStyle/>
          <a:p>
            <a:r>
              <a:rPr lang="en-US" dirty="0">
                <a:solidFill>
                  <a:schemeClr val="bg1">
                    <a:lumMod val="95000"/>
                  </a:schemeClr>
                </a:solidFill>
              </a:rPr>
              <a:t>   </a:t>
            </a:r>
            <a:endParaRPr lang="en-IN" dirty="0">
              <a:solidFill>
                <a:schemeClr val="bg1">
                  <a:lumMod val="95000"/>
                </a:schemeClr>
              </a:solidFill>
            </a:endParaRPr>
          </a:p>
        </p:txBody>
      </p:sp>
      <p:sp>
        <p:nvSpPr>
          <p:cNvPr id="21" name="TextBox 20">
            <a:extLst>
              <a:ext uri="{FF2B5EF4-FFF2-40B4-BE49-F238E27FC236}">
                <a16:creationId xmlns:a16="http://schemas.microsoft.com/office/drawing/2014/main" id="{463A6CCC-70B9-A9EB-7151-57C1C3390494}"/>
              </a:ext>
            </a:extLst>
          </p:cNvPr>
          <p:cNvSpPr txBox="1"/>
          <p:nvPr/>
        </p:nvSpPr>
        <p:spPr>
          <a:xfrm>
            <a:off x="5664820" y="1166441"/>
            <a:ext cx="8854068" cy="6740307"/>
          </a:xfrm>
          <a:prstGeom prst="rect">
            <a:avLst/>
          </a:prstGeom>
          <a:noFill/>
        </p:spPr>
        <p:txBody>
          <a:bodyPr wrap="square" rtlCol="0">
            <a:spAutoFit/>
          </a:bodyPr>
          <a:lstStyle/>
          <a:p>
            <a:r>
              <a:rPr lang="en-US" sz="2400" b="1" dirty="0">
                <a:solidFill>
                  <a:schemeClr val="bg1">
                    <a:lumMod val="95000"/>
                  </a:schemeClr>
                </a:solidFill>
                <a:latin typeface="Aptos Narrow" panose="020B0004020202020204" pitchFamily="34" charset="0"/>
              </a:rPr>
              <a:t>Comprehensive Health Metrics:</a:t>
            </a:r>
          </a:p>
          <a:p>
            <a:r>
              <a:rPr lang="en-US" sz="2400" dirty="0">
                <a:solidFill>
                  <a:schemeClr val="bg1">
                    <a:lumMod val="95000"/>
                  </a:schemeClr>
                </a:solidFill>
                <a:latin typeface="Aptos Narrow" panose="020B0004020202020204" pitchFamily="34" charset="0"/>
              </a:rPr>
              <a:t>The dataset includes a wide range of health metrics that are known to influence heart disease risk, allowing for a thorough analysis.</a:t>
            </a:r>
          </a:p>
          <a:p>
            <a:endParaRPr lang="en-US" sz="2400" b="1" dirty="0">
              <a:solidFill>
                <a:schemeClr val="bg1">
                  <a:lumMod val="95000"/>
                </a:schemeClr>
              </a:solidFill>
              <a:latin typeface="Aptos Narrow" panose="020B0004020202020204" pitchFamily="34" charset="0"/>
            </a:endParaRPr>
          </a:p>
          <a:p>
            <a:r>
              <a:rPr lang="en-US" sz="2400" b="1" dirty="0">
                <a:solidFill>
                  <a:schemeClr val="bg1">
                    <a:lumMod val="95000"/>
                  </a:schemeClr>
                </a:solidFill>
                <a:latin typeface="Aptos Narrow" panose="020B0004020202020204" pitchFamily="34" charset="0"/>
              </a:rPr>
              <a:t>Predictive Modeling:</a:t>
            </a:r>
          </a:p>
          <a:p>
            <a:r>
              <a:rPr lang="en-US" sz="2400" dirty="0">
                <a:solidFill>
                  <a:schemeClr val="bg1">
                    <a:lumMod val="95000"/>
                  </a:schemeClr>
                </a:solidFill>
                <a:latin typeface="Aptos Narrow" panose="020B0004020202020204" pitchFamily="34" charset="0"/>
              </a:rPr>
              <a:t>By utilizing these features, the predictive model can identify patterns and relationships that indicate the likelihood of heart disease, enabling early detection and intervention</a:t>
            </a:r>
          </a:p>
          <a:p>
            <a:endParaRPr lang="en-US" sz="2400" dirty="0">
              <a:solidFill>
                <a:schemeClr val="bg1">
                  <a:lumMod val="95000"/>
                </a:schemeClr>
              </a:solidFill>
              <a:latin typeface="Aptos Narrow" panose="020B0004020202020204" pitchFamily="34" charset="0"/>
            </a:endParaRPr>
          </a:p>
          <a:p>
            <a:r>
              <a:rPr lang="en-US" sz="2400" b="1" dirty="0">
                <a:solidFill>
                  <a:schemeClr val="bg1">
                    <a:lumMod val="95000"/>
                  </a:schemeClr>
                </a:solidFill>
                <a:latin typeface="Aptos Narrow" panose="020B0004020202020204" pitchFamily="34" charset="0"/>
              </a:rPr>
              <a:t>Data Diversity:</a:t>
            </a:r>
          </a:p>
          <a:p>
            <a:r>
              <a:rPr lang="en-US" sz="2400" dirty="0">
                <a:solidFill>
                  <a:schemeClr val="bg1">
                    <a:lumMod val="95000"/>
                  </a:schemeClr>
                </a:solidFill>
                <a:latin typeface="Aptos Narrow" panose="020B0004020202020204" pitchFamily="34" charset="0"/>
              </a:rPr>
              <a:t>The inclusion of both categorical and continuous variables provides a rich dataset for machine learning algorithms, enhancing the model's ability to generalize and make accurate predictions.</a:t>
            </a:r>
          </a:p>
          <a:p>
            <a:endParaRPr lang="en-US" sz="2400" dirty="0">
              <a:solidFill>
                <a:schemeClr val="bg1">
                  <a:lumMod val="95000"/>
                </a:schemeClr>
              </a:solidFill>
              <a:latin typeface="Aptos Narrow" panose="020B0004020202020204" pitchFamily="34" charset="0"/>
            </a:endParaRPr>
          </a:p>
          <a:p>
            <a:r>
              <a:rPr lang="en-US" sz="2400" b="1" dirty="0">
                <a:solidFill>
                  <a:schemeClr val="bg1">
                    <a:lumMod val="95000"/>
                  </a:schemeClr>
                </a:solidFill>
                <a:latin typeface="Aptos Narrow" panose="020B0004020202020204" pitchFamily="34" charset="0"/>
              </a:rPr>
              <a:t>Clinical Relevance:</a:t>
            </a:r>
          </a:p>
          <a:p>
            <a:r>
              <a:rPr lang="en-US" sz="2400" dirty="0">
                <a:solidFill>
                  <a:schemeClr val="bg1">
                    <a:lumMod val="95000"/>
                  </a:schemeClr>
                </a:solidFill>
                <a:latin typeface="Aptos Narrow" panose="020B0004020202020204" pitchFamily="34" charset="0"/>
              </a:rPr>
              <a:t>The features selected are clinically relevant, making the model applicable in real-world healthcare settings where timely and accurate heart disease detection is crucial.</a:t>
            </a:r>
            <a:endParaRPr lang="en-IN" sz="2400" dirty="0">
              <a:solidFill>
                <a:schemeClr val="bg1">
                  <a:lumMod val="95000"/>
                </a:schemeClr>
              </a:solidFill>
              <a:latin typeface="Aptos Narrow" panose="020B00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0AA7F7-04D5-B061-2ACA-79A07BD5730F}"/>
              </a:ext>
            </a:extLst>
          </p:cNvPr>
          <p:cNvSpPr>
            <a:spLocks noChangeArrowheads="1"/>
          </p:cNvSpPr>
          <p:nvPr/>
        </p:nvSpPr>
        <p:spPr bwMode="auto">
          <a:xfrm>
            <a:off x="758282" y="1423989"/>
            <a:ext cx="12310948"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i="0" u="sng" strike="noStrike" cap="none" normalizeH="0" baseline="0" dirty="0">
                <a:ln>
                  <a:noFill/>
                </a:ln>
                <a:solidFill>
                  <a:schemeClr val="bg1"/>
                </a:solidFill>
                <a:latin typeface="Algerian" panose="04020705040A02060702" pitchFamily="82" charset="0"/>
              </a:rPr>
              <a:t>Algorithm: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0" i="0" u="sng" strike="noStrike" cap="none" normalizeH="0" baseline="0" dirty="0">
              <a:ln>
                <a:noFill/>
              </a:ln>
              <a:solidFill>
                <a:schemeClr val="bg1"/>
              </a:solidFill>
              <a:latin typeface="Algerian" panose="04020705040A02060702" pitchFamily="82" charset="0"/>
            </a:endParaRPr>
          </a:p>
          <a:p>
            <a:pPr algn="l">
              <a:buFont typeface="Arial" panose="020B0604020202020204" pitchFamily="34" charset="0"/>
              <a:buChar char="•"/>
            </a:pPr>
            <a:r>
              <a:rPr lang="en-US" sz="3600" b="1" i="0" dirty="0">
                <a:solidFill>
                  <a:schemeClr val="bg1"/>
                </a:solidFill>
                <a:effectLst/>
                <a:latin typeface="__Inter_d65c78"/>
              </a:rPr>
              <a:t>Step 1:</a:t>
            </a:r>
            <a:r>
              <a:rPr lang="en-US" sz="3600" b="0" i="0" dirty="0">
                <a:solidFill>
                  <a:schemeClr val="bg1"/>
                </a:solidFill>
                <a:effectLst/>
                <a:latin typeface="__Inter_d65c78"/>
              </a:rPr>
              <a:t> Collect patient data through the web interface.</a:t>
            </a:r>
          </a:p>
          <a:p>
            <a:pPr algn="l">
              <a:buFont typeface="Arial" panose="020B0604020202020204" pitchFamily="34" charset="0"/>
              <a:buChar char="•"/>
            </a:pPr>
            <a:r>
              <a:rPr lang="en-US" sz="3600" b="1" i="0" dirty="0">
                <a:solidFill>
                  <a:schemeClr val="bg1"/>
                </a:solidFill>
                <a:effectLst/>
                <a:latin typeface="__Inter_d65c78"/>
              </a:rPr>
              <a:t>Step 2:</a:t>
            </a:r>
            <a:r>
              <a:rPr lang="en-US" sz="3600" b="0" i="0" dirty="0">
                <a:solidFill>
                  <a:schemeClr val="bg1"/>
                </a:solidFill>
                <a:effectLst/>
                <a:latin typeface="__Inter_d65c78"/>
              </a:rPr>
              <a:t> Format the data into a prompt for the OpenAI API.</a:t>
            </a:r>
          </a:p>
          <a:p>
            <a:pPr algn="l">
              <a:buFont typeface="Arial" panose="020B0604020202020204" pitchFamily="34" charset="0"/>
              <a:buChar char="•"/>
            </a:pPr>
            <a:r>
              <a:rPr lang="en-US" sz="3600" b="1" i="0" dirty="0">
                <a:solidFill>
                  <a:schemeClr val="bg1"/>
                </a:solidFill>
                <a:effectLst/>
                <a:latin typeface="__Inter_d65c78"/>
              </a:rPr>
              <a:t>Step 3:</a:t>
            </a:r>
            <a:r>
              <a:rPr lang="en-US" sz="3600" b="0" i="0" dirty="0">
                <a:solidFill>
                  <a:schemeClr val="bg1"/>
                </a:solidFill>
                <a:effectLst/>
                <a:latin typeface="__Inter_d65c78"/>
              </a:rPr>
              <a:t> Send the prompt to the OpenAI API and receive a response.</a:t>
            </a:r>
          </a:p>
          <a:p>
            <a:pPr algn="l">
              <a:buFont typeface="Arial" panose="020B0604020202020204" pitchFamily="34" charset="0"/>
              <a:buChar char="•"/>
            </a:pPr>
            <a:r>
              <a:rPr lang="en-US" sz="3600" b="1" i="0" dirty="0">
                <a:solidFill>
                  <a:schemeClr val="bg1"/>
                </a:solidFill>
                <a:effectLst/>
                <a:latin typeface="__Inter_d65c78"/>
              </a:rPr>
              <a:t>Step 4:</a:t>
            </a:r>
            <a:r>
              <a:rPr lang="en-US" sz="3600" b="0" i="0" dirty="0">
                <a:solidFill>
                  <a:schemeClr val="bg1"/>
                </a:solidFill>
                <a:effectLst/>
                <a:latin typeface="__Inter_d65c78"/>
              </a:rPr>
              <a:t> Parse the response to extract the health report.</a:t>
            </a:r>
          </a:p>
          <a:p>
            <a:pPr algn="l">
              <a:buFont typeface="Arial" panose="020B0604020202020204" pitchFamily="34" charset="0"/>
              <a:buChar char="•"/>
            </a:pPr>
            <a:r>
              <a:rPr lang="en-US" sz="3600" b="1" i="0" dirty="0">
                <a:solidFill>
                  <a:schemeClr val="bg1"/>
                </a:solidFill>
                <a:effectLst/>
                <a:latin typeface="__Inter_d65c78"/>
              </a:rPr>
              <a:t>Step 5:</a:t>
            </a:r>
            <a:r>
              <a:rPr lang="en-US" sz="3600" b="0" i="0" dirty="0">
                <a:solidFill>
                  <a:schemeClr val="bg1"/>
                </a:solidFill>
                <a:effectLst/>
                <a:latin typeface="__Inter_d65c78"/>
              </a:rPr>
              <a:t> Display the report to the user in a user-friendly format.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3765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FD147B-FE00-5339-F3C5-3CC5EE29B7AC}"/>
              </a:ext>
            </a:extLst>
          </p:cNvPr>
          <p:cNvSpPr txBox="1"/>
          <p:nvPr/>
        </p:nvSpPr>
        <p:spPr>
          <a:xfrm>
            <a:off x="120895" y="45170"/>
            <a:ext cx="9504095" cy="8279190"/>
          </a:xfrm>
          <a:prstGeom prst="rect">
            <a:avLst/>
          </a:prstGeom>
          <a:noFill/>
        </p:spPr>
        <p:txBody>
          <a:bodyPr wrap="square" rtlCol="0">
            <a:spAutoFit/>
          </a:bodyPr>
          <a:lstStyle/>
          <a:p>
            <a:pPr>
              <a:buNone/>
            </a:pPr>
            <a:r>
              <a:rPr lang="en-US" sz="3200" b="1" u="sng" dirty="0">
                <a:solidFill>
                  <a:schemeClr val="bg1"/>
                </a:solidFill>
                <a:latin typeface="Algerian" panose="04020705040A02060702" pitchFamily="82" charset="0"/>
              </a:rPr>
              <a:t>Result:</a:t>
            </a:r>
          </a:p>
          <a:p>
            <a:pPr>
              <a:buNone/>
            </a:pPr>
            <a:endParaRPr lang="en-US" sz="2000" b="1" u="sng" dirty="0">
              <a:solidFill>
                <a:schemeClr val="bg1"/>
              </a:solidFill>
              <a:latin typeface="Algerian" panose="04020705040A02060702" pitchFamily="82" charset="0"/>
            </a:endParaRPr>
          </a:p>
          <a:p>
            <a:pPr>
              <a:buFont typeface="+mj-lt"/>
              <a:buAutoNum type="arabicPeriod"/>
            </a:pPr>
            <a:r>
              <a:rPr lang="en-US" sz="2400" b="1" dirty="0">
                <a:solidFill>
                  <a:schemeClr val="bg1"/>
                </a:solidFill>
              </a:rPr>
              <a:t>Introduction: Development of a personalized heart health report generator using OpenAI's GPT-3.5-turbo model. Significant advancement in the accessibility of cardiovascular health assessments. Utilizes advanced AI technology to interpret complex medical data. Provides tailored insights based on user input (age, sex, chest pain type, etc.).Aims to enhance patient understanding of cardiovascular health. Promotes proactive health management.</a:t>
            </a:r>
          </a:p>
          <a:p>
            <a:pPr>
              <a:buFont typeface="+mj-lt"/>
              <a:buAutoNum type="arabicPeriod"/>
            </a:pPr>
            <a:r>
              <a:rPr lang="en-US" sz="2400" b="1" dirty="0">
                <a:solidFill>
                  <a:schemeClr val="bg1"/>
                </a:solidFill>
              </a:rPr>
              <a:t> Evaluation: Successfully generates comprehensive health reports with: Interpretations of patient values. Risk assessments. Lifestyle and diet suggestions. Operates with: Temperature setting of 0.7.Maximum token limit of 800. Literature indicates AI can improve patient engagement and understanding. Bridges the gap between complex medical data and patient comprehension. Potential for better health outcomes and informed decision-making.</a:t>
            </a:r>
          </a:p>
          <a:p>
            <a:pPr>
              <a:buFont typeface="+mj-lt"/>
              <a:buAutoNum type="arabicPeriod"/>
            </a:pPr>
            <a:r>
              <a:rPr lang="en-US" sz="2400" b="1" dirty="0">
                <a:solidFill>
                  <a:schemeClr val="bg1"/>
                </a:solidFill>
              </a:rPr>
              <a:t> Conclusion Acknowledges limitations: Accuracy depends on the quality and completeness of user input. May not capture nuances of individual health conditions—recommendation for users to consult healthcare professionals for comprehensive evaluations. Future iterations could incorporate: Real-time data. Feedback mechanisms to enhance accuracy and reliability.</a:t>
            </a:r>
            <a:endParaRPr lang="en-IN" sz="2400" dirty="0">
              <a:solidFill>
                <a:schemeClr val="bg1"/>
              </a:solidFill>
            </a:endParaRPr>
          </a:p>
        </p:txBody>
      </p:sp>
      <p:pic>
        <p:nvPicPr>
          <p:cNvPr id="4" name="Picture 3">
            <a:extLst>
              <a:ext uri="{FF2B5EF4-FFF2-40B4-BE49-F238E27FC236}">
                <a16:creationId xmlns:a16="http://schemas.microsoft.com/office/drawing/2014/main" id="{7A09B80D-324C-DEC6-8050-EF0E980C9CCC}"/>
              </a:ext>
            </a:extLst>
          </p:cNvPr>
          <p:cNvPicPr>
            <a:picLocks noChangeAspect="1"/>
          </p:cNvPicPr>
          <p:nvPr/>
        </p:nvPicPr>
        <p:blipFill>
          <a:blip r:embed="rId2"/>
          <a:stretch>
            <a:fillRect/>
          </a:stretch>
        </p:blipFill>
        <p:spPr>
          <a:xfrm>
            <a:off x="9757458" y="1853130"/>
            <a:ext cx="4745620" cy="3529094"/>
          </a:xfrm>
          <a:prstGeom prst="rect">
            <a:avLst/>
          </a:prstGeom>
        </p:spPr>
      </p:pic>
    </p:spTree>
    <p:extLst>
      <p:ext uri="{BB962C8B-B14F-4D97-AF65-F5344CB8AC3E}">
        <p14:creationId xmlns:p14="http://schemas.microsoft.com/office/powerpoint/2010/main" val="473054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2458"/>
          </a:xfrm>
          <a:prstGeom prst="rect">
            <a:avLst/>
          </a:prstGeom>
        </p:spPr>
      </p:pic>
      <p:sp>
        <p:nvSpPr>
          <p:cNvPr id="3" name="Text 0"/>
          <p:cNvSpPr/>
          <p:nvPr/>
        </p:nvSpPr>
        <p:spPr>
          <a:xfrm>
            <a:off x="899828" y="1459715"/>
            <a:ext cx="7500461" cy="1381125"/>
          </a:xfrm>
          <a:prstGeom prst="rect">
            <a:avLst/>
          </a:prstGeom>
          <a:noFill/>
          <a:ln/>
        </p:spPr>
        <p:txBody>
          <a:bodyPr wrap="square" lIns="0" tIns="0" rIns="0" bIns="0" rtlCol="0" anchor="t"/>
          <a:lstStyle/>
          <a:p>
            <a:pPr>
              <a:buNone/>
            </a:pPr>
            <a:r>
              <a:rPr lang="en-US" sz="6000" u="sng" dirty="0">
                <a:solidFill>
                  <a:schemeClr val="bg1">
                    <a:lumMod val="95000"/>
                  </a:schemeClr>
                </a:solidFill>
                <a:latin typeface="Algerian" panose="04020705040A02060702" pitchFamily="82" charset="0"/>
              </a:rPr>
              <a:t>Future Roadmap</a:t>
            </a:r>
          </a:p>
          <a:p>
            <a:pPr>
              <a:buNone/>
            </a:pPr>
            <a:endParaRPr lang="en-US" sz="6000" dirty="0">
              <a:solidFill>
                <a:schemeClr val="bg1">
                  <a:lumMod val="95000"/>
                </a:schemeClr>
              </a:solidFill>
            </a:endParaRPr>
          </a:p>
          <a:p>
            <a:pPr>
              <a:buFont typeface="Arial" panose="020B0604020202020204" pitchFamily="34" charset="0"/>
              <a:buChar char="•"/>
            </a:pPr>
            <a:r>
              <a:rPr lang="en-US" sz="3600" dirty="0">
                <a:solidFill>
                  <a:schemeClr val="bg1">
                    <a:lumMod val="95000"/>
                  </a:schemeClr>
                </a:solidFill>
                <a:latin typeface="Aptos Narrow" panose="020B0004020202020204" pitchFamily="34" charset="0"/>
              </a:rPr>
              <a:t>Model explainability using SHAP</a:t>
            </a:r>
          </a:p>
          <a:p>
            <a:pPr>
              <a:buFont typeface="Arial" panose="020B0604020202020204" pitchFamily="34" charset="0"/>
              <a:buChar char="•"/>
            </a:pPr>
            <a:r>
              <a:rPr lang="en-US" sz="3600" dirty="0">
                <a:solidFill>
                  <a:schemeClr val="bg1">
                    <a:lumMod val="95000"/>
                  </a:schemeClr>
                </a:solidFill>
                <a:latin typeface="Aptos Narrow" panose="020B0004020202020204" pitchFamily="34" charset="0"/>
              </a:rPr>
              <a:t>Larger dataset integration</a:t>
            </a:r>
          </a:p>
          <a:p>
            <a:pPr>
              <a:buFont typeface="Arial" panose="020B0604020202020204" pitchFamily="34" charset="0"/>
              <a:buChar char="•"/>
            </a:pPr>
            <a:r>
              <a:rPr lang="en-US" sz="3600" dirty="0">
                <a:solidFill>
                  <a:schemeClr val="bg1">
                    <a:lumMod val="95000"/>
                  </a:schemeClr>
                </a:solidFill>
                <a:latin typeface="Aptos Narrow" panose="020B0004020202020204" pitchFamily="34" charset="0"/>
              </a:rPr>
              <a:t>Mobile deployment</a:t>
            </a:r>
          </a:p>
          <a:p>
            <a:pPr>
              <a:buFont typeface="Arial" panose="020B0604020202020204" pitchFamily="34" charset="0"/>
              <a:buChar char="•"/>
            </a:pPr>
            <a:r>
              <a:rPr lang="en-US" sz="3600" dirty="0">
                <a:solidFill>
                  <a:schemeClr val="bg1">
                    <a:lumMod val="95000"/>
                  </a:schemeClr>
                </a:solidFill>
                <a:latin typeface="Aptos Narrow" panose="020B0004020202020204" pitchFamily="34" charset="0"/>
              </a:rPr>
              <a:t>Clinical trials for validation</a:t>
            </a:r>
          </a:p>
          <a:p>
            <a:pPr>
              <a:buFont typeface="Arial" panose="020B0604020202020204" pitchFamily="34" charset="0"/>
              <a:buChar char="•"/>
            </a:pPr>
            <a:r>
              <a:rPr lang="en-US" sz="3600" dirty="0">
                <a:solidFill>
                  <a:schemeClr val="bg1">
                    <a:lumMod val="95000"/>
                  </a:schemeClr>
                </a:solidFill>
                <a:latin typeface="Aptos Narrow" panose="020B0004020202020204" pitchFamily="34" charset="0"/>
              </a:rPr>
              <a:t>Integration with wearable health tech</a:t>
            </a:r>
          </a:p>
          <a:p>
            <a:pPr marL="0" indent="0" algn="l">
              <a:lnSpc>
                <a:spcPts val="5400"/>
              </a:lnSpc>
              <a:buNone/>
            </a:pPr>
            <a:endParaRPr lang="en-US" sz="4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346</TotalTime>
  <Words>849</Words>
  <Application>Microsoft Office PowerPoint</Application>
  <PresentationFormat>Custom</PresentationFormat>
  <Paragraphs>68</Paragraphs>
  <Slides>8</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__Inter_d65c78</vt:lpstr>
      <vt:lpstr>Aptos Narrow</vt:lpstr>
      <vt:lpstr>Arimo Medium</vt:lpstr>
      <vt:lpstr>Arial</vt:lpstr>
      <vt:lpstr>Algerian</vt:lpstr>
      <vt:lpstr>Arial Black</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Sneha Maji</cp:lastModifiedBy>
  <cp:revision>14</cp:revision>
  <dcterms:created xsi:type="dcterms:W3CDTF">2025-04-17T06:36:35Z</dcterms:created>
  <dcterms:modified xsi:type="dcterms:W3CDTF">2025-04-26T06:30:43Z</dcterms:modified>
</cp:coreProperties>
</file>